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6"/>
  </p:normalViewPr>
  <p:slideViewPr>
    <p:cSldViewPr snapToGrid="0">
      <p:cViewPr varScale="1">
        <p:scale>
          <a:sx n="149" d="100"/>
          <a:sy n="149" d="100"/>
        </p:scale>
        <p:origin x="7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 1 分鐘。說明這是本機 Demo，唯一研究資料來源是 SEC 官方 filing 與 XBRL facts，輸出是帶引用的研究資訊，不是投資建議。強調今天要展示的是系統如何運作、以及驗證到什麼程度，驗證紀錄截至 2026-09-23。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分鐘。重點是為什麼要分流：敘事語意適合向量與全文混合檢索，但財務數字若從文字猜測會產生單位與期間錯誤，因此數值一律走 XBRL 結構化欄位。成功標準中最重要的是最後一條：寧可降級為未完成答案，也不要產生無法追溯的內容。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分鐘。用這張圖把「哪些資料進 corpus」講清楚：10-K/10-Q 才有全文索引，8-K 只是透過 get_latest_filings 即時查 metadata，所以不能宣稱可以回答 8-K 內文問題。年度定義是建置時最近五個『已完成』會計年度，不含進行中的年度。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分鐘。沿著箭頭講資料流：使用者只碰 Streamlit，Agent 透過 MCP discovery 取得工具，所有資料存取都走 MCP 的六個唯讀工具。Ingestion CLI 走另一條路徑寫入資料庫，完全不經 MCP 公開，因此模型無法觸發下載或重建索引。技術堆疊：Python 3.12、uv、httpx、lxml、官方 Python MCP SDK 2.x、Docker Compose。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分鐘。強調三件事：一是流程由人明確執行，沒有背景排程；二是下載端有 allowlist 與限流，是對 SEC 的守規範行為；三是索引切換是原子的，避免查詢同時讀到兩個版本的向量。chunk 不跨章節這點決定了引用可以精準指到章節。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分鐘。沿圖講一次 Risk Factors 查詢：先用 metadata 把範圍限制在 AAPL 的 10-K Risk Factors 章節，再讓全文搜尋與向量搜尋各取最多 50 筆，用 RRF（k=60）融合，預設回傳前 8 筆並附可解析引用。最後一句要講清楚：這條路徑不產生財務數字。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分鐘。用 MSFT 營收趨勢題示範：五個年度的數值都來自 XBRL facts，每一筆都帶 concept、unit、期間與 accession，所以可以回查來源。重點提醒：若期間或單位判定含糊，系統寧可發警告或給部分結果，也不會把不同定義的數字混在同一張趨勢裡。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分鐘。這張表是 Demo 的介面契約。注意只有 get_latest_filings 會即時連 SEC，其餘都讀本機資料庫。回應一律是結構化欄位，其中 citations 與 warnings 是後續引用驗證與降級判斷的依據。ingestion 與重建索引刻意不公開，避免模型觸發寫入行為。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分鐘。重點在最後一段：引用驗證是程式做的，不是模型自評。驗證內容是引用 ID 是否屬於本次請求、URL 是否在 SEC HTTPS allowlist、以及行內引用是否存在——這是格式與來源檢查，不是逐條語意驗證，也沒有對每個連結做遠端 HTTP 200。驗證不過就標記 is_complete 為否並降級。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分鐘，實際操作時間另計。先秀 corpus status 讓觀眾知道資料已就緒，再依序點三題。每題都要展開證據區，指出工具軌跡與 SEC 連結，讓觀眾看到答案是怎麼被支撐的。若當場降級，直接說明這是引用規則擋下來的安全行為。UI 內容為預期展示內容，不要宣稱是實測截圖。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分鐘。照流程圖走一次，不要逐字唸指令。重點：資料建置是三個明確步驟（migrate、backfill 或 sync、rebuild-index），每一步都由人觸發；ready gate 是避免在索引還沒切換時就開 Demo。強調投影片上不放任何金鑰值。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分鐘。分三端講：取得端守 SEC 規範、存取端沒有寫入面、輸出端有引用驗證。最後一定要把 OpenRouter 的資料傳送講清楚——送出去的是公開 SEC 片段與查詢文字，但仍是離開本機的資料，聽眾若要導入內部資料需重新評估。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分鐘，這是最關鍵的證據頁。語料數字來自隔離重建環境，backfill 重跑略過 57、重複鍵 0 證明冪等。耗時表一定要加上『抽樣紀錄』的但書——這是單次觀測，不是效能承諾。兩題降級要主動講：那是引用規則擋下來的安全行為，表示系統寧可不完整也不亂引。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分鐘。這頁的講法要先講表格最右兩欄再講數字：多數指標是用 deterministic fake 的模型迴圈跑的，量的是檢索與引用管線的品質，不是正式模型的答題正確率。若有人問「所以準確率多少」，就用下方的正確讀法回答：目前沒有正式模型逐題評估的數字。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分鐘收尾。誠實列出限制反而是這份 Demo 的賣點：系統的價值在於它知道自己什麼時候不該答。最後用底部那句話收：官方資料進來，敘事與數值分流檢索，經唯讀 MCP 工具取得證據，輸出帶引用的研究答案。留 3–5 分鐘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113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C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ide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AE0CA"/>
          </a:solidFill>
          <a:ln w="12700">
            <a:solidFill>
              <a:srgbClr val="EAE0C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100584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FINANCIAL RESEARCH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 Filing Research Agent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SEC 官方資料到可追溯的研究答案</a:t>
            </a:r>
            <a:endParaRPr lang="en-US" sz="1900" dirty="0"/>
          </a:p>
        </p:txBody>
      </p:sp>
      <p:sp>
        <p:nvSpPr>
          <p:cNvPr id="7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2834640"/>
            <a:ext cx="2926080" cy="0"/>
          </a:xfrm>
          <a:prstGeom prst="line">
            <a:avLst/>
          </a:prstGeom>
          <a:noFill/>
          <a:ln w="317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005840" y="3017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主題：</a:t>
            </a:r>
            <a:r>
              <a:rPr lang="en-US" sz="12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RAG 敘事檢索 + XBRL 數值查詢 + 唯讀 MCP 工具介面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驗證日期：</a:t>
            </a:r>
            <a:r>
              <a:rPr lang="en-US" sz="12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2026-09-23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說明：</a:t>
            </a:r>
            <a:r>
              <a:rPr lang="en-US" sz="12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研究資訊與引用，不提供投資建議、價格預測或交易指令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依據文件：README.md、specs/sec-filing-research-agent/design.md、verification.md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C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700016"/>
            <a:ext cx="8229600" cy="0"/>
          </a:xfrm>
          <a:prstGeom prst="line">
            <a:avLst/>
          </a:prstGeom>
          <a:noFill/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依據文件：specs/sec-filing-research-agent/requirements.md、design.md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研究問題與成功標準</a:t>
            </a:r>
            <a:endParaRPr lang="en-US" sz="2500" dirty="0"/>
          </a:p>
        </p:txBody>
      </p:sp>
      <p:sp>
        <p:nvSpPr>
          <p:cNvPr id="6" name="lea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786384"/>
            <a:ext cx="54864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敘事與數字必須走不同路徑，才能兩邊都可追溯。</a:t>
            </a:r>
            <a:endParaRPr lang="en-US" sz="1300" dirty="0"/>
          </a:p>
        </p:txBody>
      </p:sp>
      <p:sp>
        <p:nvSpPr>
          <p:cNvPr id="8" name="question card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234440"/>
            <a:ext cx="2651760" cy="178308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card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234440"/>
            <a:ext cx="2651760" cy="292608"/>
          </a:xfrm>
          <a:prstGeom prst="rect">
            <a:avLst/>
          </a:prstGeom>
          <a:solidFill>
            <a:srgbClr val="EAE0CA"/>
          </a:solidFill>
          <a:ln w="12700">
            <a:solidFill>
              <a:srgbClr val="EAE0C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66928" y="123444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敘事題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1600200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 AAPL 最近五個已完成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會計年度的 Risk Factors 變化。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257860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RAG 章節檢索</a:t>
            </a:r>
            <a:endParaRPr lang="en-US" sz="1000" dirty="0"/>
          </a:p>
        </p:txBody>
      </p:sp>
      <p:sp>
        <p:nvSpPr>
          <p:cNvPr id="13" name="question card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1234440"/>
            <a:ext cx="2651760" cy="178308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card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1234440"/>
            <a:ext cx="2651760" cy="292608"/>
          </a:xfrm>
          <a:prstGeom prst="rect">
            <a:avLst/>
          </a:prstGeom>
          <a:solidFill>
            <a:srgbClr val="EAE0CA"/>
          </a:solidFill>
          <a:ln w="12700">
            <a:solidFill>
              <a:srgbClr val="EAE0C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383280" y="123444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數值題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600200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列出 MSFT 最近五個已完成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會計年度的營收趨勢。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257860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XBRL company facts</a:t>
            </a:r>
            <a:endParaRPr lang="en-US" sz="1000" dirty="0"/>
          </a:p>
        </p:txBody>
      </p:sp>
      <p:sp>
        <p:nvSpPr>
          <p:cNvPr id="18" name="question card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9904" y="1234440"/>
            <a:ext cx="2651760" cy="178308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card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9904" y="1234440"/>
            <a:ext cx="2651760" cy="292608"/>
          </a:xfrm>
          <a:prstGeom prst="rect">
            <a:avLst/>
          </a:prstGeom>
          <a:solidFill>
            <a:srgbClr val="EAE0CA"/>
          </a:solidFill>
          <a:ln w="12700">
            <a:solidFill>
              <a:srgbClr val="EAE0C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199632" y="123444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複合題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9632" y="1600200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NVDA 的資料中心營收成長與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Risk Factors 變化有何關聯？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99632" y="257860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 RAG 後 XBRL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成功標準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SEC-only：只以官方 filing 與 XBRL facts 作答，無其他資料源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可追溯：每個主張對應可解析的 citation ID 與允許的 SEC HTTPS 來源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分流正確：敘事走 RAG、數值走 XBRL，不把 XBRL 數字當成向量文字猜出的結果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證據不足或引用不合規時，降級為未完成答案而非硬答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C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700016"/>
            <a:ext cx="8229600" cy="0"/>
          </a:xfrm>
          <a:prstGeom prst="line">
            <a:avLst/>
          </a:prstGeom>
          <a:noFill/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依據文件：specs/sec-filing-research-agent/requirements.md、design.md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範圍與資料來源</a:t>
            </a:r>
            <a:endParaRPr lang="en-US" sz="2500" dirty="0"/>
          </a:p>
        </p:txBody>
      </p:sp>
      <p:sp>
        <p:nvSpPr>
          <p:cNvPr id="6" name="lea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786384"/>
            <a:ext cx="54864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 10-K 與 10-Q 進入 RAG 語料；8-K 僅即時查 metadata。</a:t>
            </a:r>
            <a:endParaRPr lang="en-US" sz="1300" dirty="0"/>
          </a:p>
        </p:txBody>
      </p:sp>
      <p:sp>
        <p:nvSpPr>
          <p:cNvPr id="8" name="node frame 預設公司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280160"/>
            <a:ext cx="2286000" cy="868680"/>
          </a:xfrm>
          <a:prstGeom prst="rect">
            <a:avLst/>
          </a:prstGeom>
          <a:solidFill>
            <a:srgbClr val="EAE0CA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22860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預設公司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AAPL / MSFT / NVDA</a:t>
            </a:r>
            <a:endParaRPr lang="en-US" sz="1100" dirty="0"/>
          </a:p>
        </p:txBody>
      </p:sp>
      <p:sp>
        <p:nvSpPr>
          <p:cNvPr id="10" name="node frame 時間範圍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331720"/>
            <a:ext cx="2286000" cy="868680"/>
          </a:xfrm>
          <a:prstGeom prst="rect">
            <a:avLst/>
          </a:prstGeom>
          <a:solidFill>
            <a:srgbClr val="EAE0CA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22860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時間範圍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建置時最近五個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已完成會計年度</a:t>
            </a:r>
            <a:endParaRPr lang="en-US" sz="1100" dirty="0"/>
          </a:p>
        </p:txBody>
      </p:sp>
      <p:sp>
        <p:nvSpPr>
          <p:cNvPr id="12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34640" y="1719072"/>
            <a:ext cx="50292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2578608" y="1444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10-K / 10-Q</a:t>
            </a:r>
            <a:endParaRPr lang="en-US" sz="750" dirty="0"/>
          </a:p>
        </p:txBody>
      </p:sp>
      <p:sp>
        <p:nvSpPr>
          <p:cNvPr id="14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34640" y="2770632"/>
            <a:ext cx="50292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2578608" y="24963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8-K</a:t>
            </a:r>
            <a:endParaRPr lang="en-US" sz="750" dirty="0"/>
          </a:p>
        </p:txBody>
      </p:sp>
      <p:sp>
        <p:nvSpPr>
          <p:cNvPr id="16" name="node frame RAG 語料（corpus）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1234440"/>
            <a:ext cx="2468880" cy="1005840"/>
          </a:xfrm>
          <a:prstGeom prst="rect">
            <a:avLst/>
          </a:prstGeom>
          <a:solidFill>
            <a:srgbClr val="FDF9F0"/>
          </a:solidFill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429000" y="1234440"/>
            <a:ext cx="24688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RAG 語料（corpus）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章節解析 → chunk →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embedding → active index</a:t>
            </a:r>
            <a:endParaRPr lang="en-US" sz="1100" dirty="0"/>
          </a:p>
        </p:txBody>
      </p:sp>
      <p:sp>
        <p:nvSpPr>
          <p:cNvPr id="18" name="node frame XBRL fact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2377440"/>
            <a:ext cx="2468880" cy="822960"/>
          </a:xfrm>
          <a:prstGeom prst="rect">
            <a:avLst/>
          </a:prstGeom>
          <a:solidFill>
            <a:srgbClr val="FDF9F0"/>
          </a:solidFill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429000" y="2377440"/>
            <a:ext cx="24688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XBRL facts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 company facts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入庫後供數值查詢</a:t>
            </a:r>
            <a:endParaRPr lang="en-US" sz="1100" dirty="0"/>
          </a:p>
        </p:txBody>
      </p:sp>
      <p:sp>
        <p:nvSpPr>
          <p:cNvPr id="20" name="node frame 8-K metadata（即時）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3310128"/>
            <a:ext cx="2468880" cy="77724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3429000" y="3310128"/>
            <a:ext cx="24688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8-K metadata（即時）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get_latest_filings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不索引全文</a:t>
            </a:r>
            <a:endParaRPr lang="en-US" sz="1100" dirty="0"/>
          </a:p>
        </p:txBody>
      </p:sp>
      <p:sp>
        <p:nvSpPr>
          <p:cNvPr id="22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737360"/>
            <a:ext cx="45720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2788920"/>
            <a:ext cx="45720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3703320"/>
            <a:ext cx="45720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node frame 可追溯的研究答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37960" y="1234440"/>
            <a:ext cx="2148840" cy="2852928"/>
          </a:xfrm>
          <a:prstGeom prst="rect">
            <a:avLst/>
          </a:prstGeom>
          <a:solidFill>
            <a:srgbClr val="EAE0CA"/>
          </a:solidFill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6537960" y="1234440"/>
            <a:ext cx="2148840" cy="2852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可追溯的研究答案</a:t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 / 日期 / form /</a:t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accession / 章節 /</a:t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 URL 全程保留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邊界：第一版不建立 8-K 全文 RAG 索引；超出上述公司與年度範圍的問題不在 Demo 保證內。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C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700016"/>
            <a:ext cx="8229600" cy="0"/>
          </a:xfrm>
          <a:prstGeom prst="line">
            <a:avLst/>
          </a:prstGeom>
          <a:noFill/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依據文件：specs/sec-filing-research-agent/design.md、compose.yaml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系統全景與信任邊界</a:t>
            </a:r>
            <a:endParaRPr lang="en-US" sz="2500" dirty="0"/>
          </a:p>
        </p:txBody>
      </p:sp>
      <p:sp>
        <p:nvSpPr>
          <p:cNvPr id="6" name="lea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786384"/>
            <a:ext cx="54864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查詢路徑與 ingestion 路徑分離，MCP 是唯一的能力出口。</a:t>
            </a:r>
            <a:endParaRPr lang="en-US" sz="1300" dirty="0"/>
          </a:p>
        </p:txBody>
      </p:sp>
      <p:sp>
        <p:nvSpPr>
          <p:cNvPr id="8" name="node frame 使用者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1371600"/>
            <a:ext cx="1234440" cy="731520"/>
          </a:xfrm>
          <a:prstGeom prst="rect">
            <a:avLst/>
          </a:prstGeom>
          <a:solidFill>
            <a:srgbClr val="EAE0CA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20040" y="1371600"/>
            <a:ext cx="12344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127.0.0.1</a:t>
            </a:r>
            <a:endParaRPr lang="en-US" sz="1100" dirty="0"/>
          </a:p>
        </p:txBody>
      </p:sp>
      <p:sp>
        <p:nvSpPr>
          <p:cNvPr id="10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00200" y="1737360"/>
            <a:ext cx="41148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554480" y="18196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</a:t>
            </a:r>
            <a:endParaRPr lang="en-US" sz="750" dirty="0"/>
          </a:p>
        </p:txBody>
      </p:sp>
      <p:sp>
        <p:nvSpPr>
          <p:cNvPr id="12" name="node frame Streamlit Dem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1280160"/>
            <a:ext cx="1463040" cy="91440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2057400" y="1280160"/>
            <a:ext cx="14630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Streamlit Demo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單頁 UI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:8501</a:t>
            </a:r>
            <a:endParaRPr lang="en-US" sz="1100" dirty="0"/>
          </a:p>
        </p:txBody>
      </p:sp>
      <p:sp>
        <p:nvSpPr>
          <p:cNvPr id="14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66160" y="1737360"/>
            <a:ext cx="41148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node frame Research Agent MCP Cli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23360" y="1234440"/>
            <a:ext cx="1691640" cy="1005840"/>
          </a:xfrm>
          <a:prstGeom prst="rect">
            <a:avLst/>
          </a:prstGeom>
          <a:solidFill>
            <a:srgbClr val="FDF9F0"/>
          </a:solidFill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023360" y="1234440"/>
            <a:ext cx="16916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Research 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MCP Client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strict function tools</a:t>
            </a:r>
            <a:endParaRPr lang="en-US" sz="1100" dirty="0"/>
          </a:p>
        </p:txBody>
      </p:sp>
      <p:sp>
        <p:nvSpPr>
          <p:cNvPr id="17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2286000"/>
            <a:ext cx="0" cy="27432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956048" y="22860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Responses API</a:t>
            </a:r>
            <a:endParaRPr lang="en-US" sz="750" dirty="0"/>
          </a:p>
        </p:txBody>
      </p:sp>
      <p:sp>
        <p:nvSpPr>
          <p:cNvPr id="19" name="node frame OpenRout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23360" y="2606040"/>
            <a:ext cx="1691640" cy="658368"/>
          </a:xfrm>
          <a:prstGeom prst="rect">
            <a:avLst/>
          </a:prstGeom>
          <a:solidFill>
            <a:srgbClr val="EAE0CA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023360" y="2606040"/>
            <a:ext cx="169164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OpenRouter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openai/gpt-6-luna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text-embedding-3-small</a:t>
            </a:r>
            <a:endParaRPr lang="en-US" sz="1050" dirty="0"/>
          </a:p>
        </p:txBody>
      </p:sp>
      <p:sp>
        <p:nvSpPr>
          <p:cNvPr id="21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60720" y="1737360"/>
            <a:ext cx="41148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715000" y="18196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/mcp</a:t>
            </a:r>
            <a:endParaRPr lang="en-US" sz="750" dirty="0"/>
          </a:p>
        </p:txBody>
      </p:sp>
      <p:sp>
        <p:nvSpPr>
          <p:cNvPr id="23" name="node frame MCP Serv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1234440"/>
            <a:ext cx="1600200" cy="1005840"/>
          </a:xfrm>
          <a:prstGeom prst="rect">
            <a:avLst/>
          </a:prstGeom>
          <a:solidFill>
            <a:srgbClr val="FDF9F0"/>
          </a:solidFill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217920" y="1234440"/>
            <a:ext cx="160020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MCP Server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Streamable HTTP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tools / 3 resources</a:t>
            </a:r>
            <a:endParaRPr lang="en-US" sz="1100" dirty="0"/>
          </a:p>
        </p:txBody>
      </p:sp>
      <p:sp>
        <p:nvSpPr>
          <p:cNvPr id="25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22592" y="2286000"/>
            <a:ext cx="0" cy="41148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7095744" y="23317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</a:t>
            </a:r>
            <a:endParaRPr lang="en-US" sz="750" dirty="0"/>
          </a:p>
        </p:txBody>
      </p:sp>
      <p:sp>
        <p:nvSpPr>
          <p:cNvPr id="27" name="node frame PostgreSQL 18 + pgv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2724912"/>
            <a:ext cx="1965960" cy="82296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6035040" y="2724912"/>
            <a:ext cx="19659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PostgreSQL 18 + pgvector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唯讀角色</a:t>
            </a:r>
            <a:endParaRPr lang="en-US" sz="1000" dirty="0"/>
          </a:p>
        </p:txBody>
      </p:sp>
      <p:sp>
        <p:nvSpPr>
          <p:cNvPr id="29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20" y="1737360"/>
            <a:ext cx="50292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7818120" y="18196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HTTPS</a:t>
            </a:r>
            <a:endParaRPr lang="en-US" sz="750" dirty="0"/>
          </a:p>
        </p:txBody>
      </p:sp>
      <p:sp>
        <p:nvSpPr>
          <p:cNvPr id="31" name="node frame 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80" y="1234440"/>
            <a:ext cx="914400" cy="1005840"/>
          </a:xfrm>
          <a:prstGeom prst="rect">
            <a:avLst/>
          </a:prstGeom>
          <a:solidFill>
            <a:srgbClr val="EAE0CA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7955280" y="1234440"/>
            <a:ext cx="91440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submissions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endParaRPr lang="en-US" sz="1000" dirty="0"/>
          </a:p>
        </p:txBody>
      </p:sp>
      <p:sp>
        <p:nvSpPr>
          <p:cNvPr id="33" name="node frame Ingestion CL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2743200"/>
            <a:ext cx="1600200" cy="822960"/>
          </a:xfrm>
          <a:prstGeom prst="rect">
            <a:avLst/>
          </a:prstGeom>
          <a:solidFill>
            <a:srgbClr val="FDF9F0"/>
          </a:solidFill>
          <a:ln w="19050">
            <a:solidFill>
              <a:srgbClr val="8A5A1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320040" y="2743200"/>
            <a:ext cx="16002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Ingestion CLI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 / 解析 /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XBRL / 索引</a:t>
            </a:r>
            <a:endParaRPr lang="en-US" sz="1100" dirty="0"/>
          </a:p>
        </p:txBody>
      </p:sp>
      <p:sp>
        <p:nvSpPr>
          <p:cNvPr id="35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65960" y="3383280"/>
            <a:ext cx="4023360" cy="0"/>
          </a:xfrm>
          <a:prstGeom prst="line">
            <a:avLst/>
          </a:prstGeom>
          <a:noFill/>
          <a:ln w="19050">
            <a:solidFill>
              <a:srgbClr val="8A5A12"/>
            </a:solidFill>
            <a:prstDash val="dash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2377440" y="31272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寫入（不經 MCP 公開）</a:t>
            </a:r>
            <a:endParaRPr lang="en-US" sz="750" dirty="0"/>
          </a:p>
        </p:txBody>
      </p:sp>
      <p:sp>
        <p:nvSpPr>
          <p:cNvPr id="37" name="boundary not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" y="3657600"/>
            <a:ext cx="8631936" cy="475488"/>
          </a:xfrm>
          <a:prstGeom prst="rect">
            <a:avLst/>
          </a:prstGeom>
          <a:solidFill>
            <a:srgbClr val="EAE0CA"/>
          </a:solidFill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384048" y="3657600"/>
            <a:ext cx="8375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信任邊界：使用者問題、SEC 文件、工具輸出與模型輸出一律視為不可信資料；MCP 與 PostgreSQL 不公開主機連接埠，Demo 僅開於 127.0.0.1:8501。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C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700016"/>
            <a:ext cx="8229600" cy="0"/>
          </a:xfrm>
          <a:prstGeom prst="line">
            <a:avLst/>
          </a:prstGeom>
          <a:noFill/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依據文件：specs/sec-filing-research-agent/design.md、README.md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資料建置流程（Ingestion Pipeline）</a:t>
            </a:r>
            <a:endParaRPr lang="en-US" sz="2500" dirty="0"/>
          </a:p>
        </p:txBody>
      </p:sp>
      <p:sp>
        <p:nvSpPr>
          <p:cNvPr id="6" name="lea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786384"/>
            <a:ext cx="54864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由操作者明確執行；沒有排程器，重跑為冪等。</a:t>
            </a:r>
            <a:endParaRPr lang="en-US" sz="1300" dirty="0"/>
          </a:p>
        </p:txBody>
      </p:sp>
      <p:sp>
        <p:nvSpPr>
          <p:cNvPr id="8" name="node frame SEC discover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2608" y="1298448"/>
            <a:ext cx="1316736" cy="96012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292608" y="1298448"/>
            <a:ext cx="1316736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 discovery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submissions API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EDGAR Archives</a:t>
            </a:r>
            <a:endParaRPr lang="en-US" sz="1050" dirty="0"/>
          </a:p>
        </p:txBody>
      </p:sp>
      <p:sp>
        <p:nvSpPr>
          <p:cNvPr id="10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27632" y="1773936"/>
            <a:ext cx="109728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node frame 驗證與保存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55648" y="1298448"/>
            <a:ext cx="1316736" cy="96012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1755648" y="1298448"/>
            <a:ext cx="1316736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驗證與保存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content-type / 大小 /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filing identity / hash</a:t>
            </a:r>
            <a:endParaRPr lang="en-US" sz="1050" dirty="0"/>
          </a:p>
        </p:txBody>
      </p:sp>
      <p:sp>
        <p:nvSpPr>
          <p:cNvPr id="13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90672" y="1773936"/>
            <a:ext cx="109728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node frame 章節解析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18688" y="1298448"/>
            <a:ext cx="1316736" cy="96012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218688" y="1298448"/>
            <a:ext cx="1316736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章節解析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清理導覽與隱藏內容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 Item / Part</a:t>
            </a:r>
            <a:endParaRPr lang="en-US" sz="1050" dirty="0"/>
          </a:p>
        </p:txBody>
      </p:sp>
      <p:sp>
        <p:nvSpPr>
          <p:cNvPr id="16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53712" y="1773936"/>
            <a:ext cx="109728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node frame chun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1298448"/>
            <a:ext cx="1316736" cy="96012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681728" y="1298448"/>
            <a:ext cx="1316736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chunk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600–900 tokens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100 tokens overlap</a:t>
            </a:r>
            <a:endParaRPr lang="en-US" sz="1050" dirty="0"/>
          </a:p>
        </p:txBody>
      </p:sp>
      <p:sp>
        <p:nvSpPr>
          <p:cNvPr id="19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16752" y="1773936"/>
            <a:ext cx="109728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node frame embedd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4768" y="1298448"/>
            <a:ext cx="1316736" cy="96012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144768" y="1298448"/>
            <a:ext cx="1316736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embedding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1,536 維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index build 版本管理</a:t>
            </a:r>
            <a:endParaRPr lang="en-US" sz="1050" dirty="0"/>
          </a:p>
        </p:txBody>
      </p:sp>
      <p:sp>
        <p:nvSpPr>
          <p:cNvPr id="22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79792" y="1773936"/>
            <a:ext cx="109728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node frame active inde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07808" y="1298448"/>
            <a:ext cx="1316736" cy="960120"/>
          </a:xfrm>
          <a:prstGeom prst="rect">
            <a:avLst/>
          </a:prstGeom>
          <a:solidFill>
            <a:srgbClr val="EAE0CA"/>
          </a:solidFill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7607808" y="1298448"/>
            <a:ext cx="1316736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active index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 build 完整後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原子切換</a:t>
            </a:r>
            <a:endParaRPr lang="en-US" sz="1050" dirty="0"/>
          </a:p>
        </p:txBody>
      </p:sp>
      <p:sp>
        <p:nvSpPr>
          <p:cNvPr id="25" name="storage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2608" y="2395728"/>
            <a:ext cx="8558784" cy="365760"/>
          </a:xfrm>
          <a:prstGeom prst="rect">
            <a:avLst/>
          </a:prstGeom>
          <a:solidFill>
            <a:srgbClr val="EAE0CA"/>
          </a:solidFill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411480" y="239572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儲存：原始文件 → raw-data volume　|　PostgreSQL → filing metadata、section、chunk、embedding、XBRL facts、匯入狀態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2852928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操作命令固定順序：migrate → backfill／sync → rebuild-index，全部由操作者明確觸發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 client：官方 HTTPS host allowlist、含聯絡 email 的 User-Agent、預設每秒 5 次，硬限制低於每秒 10 次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下載失敗有 checkpoint／隔離機制；章節不確定時標記失敗，不猜測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chunk 不跨章節，保留公司、日期、form、accession、章節、來源 URL 及順序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 index build 完整後才原子切換 active，避免一次查詢混用版本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C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700016"/>
            <a:ext cx="8229600" cy="0"/>
          </a:xfrm>
          <a:prstGeom prst="line">
            <a:avLst/>
          </a:prstGeom>
          <a:noFill/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依據文件：specs/sec-filing-research-agent/design.md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RAG 實作：metadata-first 的混合檢索</a:t>
            </a:r>
            <a:endParaRPr lang="en-US" sz="2500" dirty="0"/>
          </a:p>
        </p:txBody>
      </p:sp>
      <p:sp>
        <p:nvSpPr>
          <p:cNvPr id="6" name="lea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786384"/>
            <a:ext cx="54864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先篩後融合：FTS 與 pgvector 各取候選，再以 RRF 排序。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範例查詢：AAPL 最近五個已完成會計年度的 Risk Factors 變化</a:t>
            </a:r>
            <a:endParaRPr lang="en-US" sz="1100" dirty="0"/>
          </a:p>
        </p:txBody>
      </p:sp>
      <p:sp>
        <p:nvSpPr>
          <p:cNvPr id="9" name="node frame metadata 篩選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536192"/>
            <a:ext cx="1645920" cy="914400"/>
          </a:xfrm>
          <a:prstGeom prst="rect">
            <a:avLst/>
          </a:prstGeom>
          <a:solidFill>
            <a:srgbClr val="EAE0CA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1645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metadata 篩選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 / 日期 /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/ 章節</a:t>
            </a:r>
            <a:endParaRPr lang="en-US" sz="1100" dirty="0"/>
          </a:p>
        </p:txBody>
      </p:sp>
      <p:sp>
        <p:nvSpPr>
          <p:cNvPr id="11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48840" y="1993392"/>
            <a:ext cx="32004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node frame PostgreSQL 全文搜尋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1481328"/>
            <a:ext cx="1828800" cy="45720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2514600" y="1481328"/>
            <a:ext cx="18288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PostgreSQL 全文搜尋</a:t>
            </a:r>
            <a:endParaRPr lang="en-US" sz="1000" dirty="0"/>
          </a:p>
        </p:txBody>
      </p:sp>
      <p:sp>
        <p:nvSpPr>
          <p:cNvPr id="14" name="node frame pgvector cos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2029968"/>
            <a:ext cx="1828800" cy="45720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2514600" y="2029968"/>
            <a:ext cx="18288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pgvector cosine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4600" y="2523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各取最多 50 個候選</a:t>
            </a:r>
            <a:endParaRPr lang="en-US" sz="850" dirty="0"/>
          </a:p>
        </p:txBody>
      </p:sp>
      <p:sp>
        <p:nvSpPr>
          <p:cNvPr id="17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89120" y="1709928"/>
            <a:ext cx="411480" cy="27432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89120" y="2258568"/>
            <a:ext cx="411480" cy="27432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node frame RRF 融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1691640"/>
            <a:ext cx="1463040" cy="640080"/>
          </a:xfrm>
          <a:prstGeom prst="rect">
            <a:avLst/>
          </a:prstGeom>
          <a:solidFill>
            <a:srgbClr val="FDF9F0"/>
          </a:solidFill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4632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RRF 融合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k=60</a:t>
            </a:r>
            <a:endParaRPr lang="en-US" sz="1100" dirty="0"/>
          </a:p>
        </p:txBody>
      </p:sp>
      <p:sp>
        <p:nvSpPr>
          <p:cNvPr id="21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5080" y="2011680"/>
            <a:ext cx="36576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node frame 前 8 筆 + 可解析引用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0" y="1572768"/>
            <a:ext cx="1920240" cy="868680"/>
          </a:xfrm>
          <a:prstGeom prst="rect">
            <a:avLst/>
          </a:prstGeom>
          <a:solidFill>
            <a:srgbClr val="EAE0CA"/>
          </a:solidFill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766560" y="1572768"/>
            <a:ext cx="192024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 8 筆 + 可解析引用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accession / 章節 /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 來源 URL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880360"/>
            <a:ext cx="8229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章節辨識：清理導覽與隱藏內容、辨識 Item／Part 正文、排除目錄假命中；不確定即標記失敗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chunk metadata 隨結果回傳，因此引用可解析到 filing、章節與來源 URL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預設回傳前 8 筆；Recall 指標以此 top-8 為基準（見離線測試頁）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此路徑只處理敘事文字；XBRL 數字不從向量文字推測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C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700016"/>
            <a:ext cx="8229600" cy="0"/>
          </a:xfrm>
          <a:prstGeom prst="line">
            <a:avLst/>
          </a:prstGeom>
          <a:noFill/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依據文件：specs/sec-filing-research-agent/design.md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XBRL 數值路徑</a:t>
            </a:r>
            <a:endParaRPr lang="en-US" sz="2500" dirty="0"/>
          </a:p>
        </p:txBody>
      </p:sp>
      <p:sp>
        <p:nvSpPr>
          <p:cNvPr id="6" name="lea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786384"/>
            <a:ext cx="54864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數字來自結構化 facts，單位與期間必須隨值一起回傳。</a:t>
            </a:r>
            <a:endParaRPr lang="en-US" sz="1300" dirty="0"/>
          </a:p>
        </p:txBody>
      </p:sp>
      <p:sp>
        <p:nvSpPr>
          <p:cNvPr id="8" name="node frame SEC XBRL company fact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463040"/>
            <a:ext cx="1737360" cy="804672"/>
          </a:xfrm>
          <a:prstGeom prst="rect">
            <a:avLst/>
          </a:prstGeom>
          <a:solidFill>
            <a:srgbClr val="EAE0CA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73736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 XBRL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company facts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官方來源</a:t>
            </a:r>
            <a:endParaRPr lang="en-US" sz="1100" dirty="0"/>
          </a:p>
        </p:txBody>
      </p:sp>
      <p:sp>
        <p:nvSpPr>
          <p:cNvPr id="10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40280" y="1865376"/>
            <a:ext cx="50292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993392" y="1207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入庫</a:t>
            </a:r>
            <a:endParaRPr lang="en-US" sz="750" dirty="0"/>
          </a:p>
        </p:txBody>
      </p:sp>
      <p:sp>
        <p:nvSpPr>
          <p:cNvPr id="12" name="node frame PostgreSQL XBRL fact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1463040"/>
            <a:ext cx="1737360" cy="804672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2743200" y="1463040"/>
            <a:ext cx="173736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PostgreSQL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XBRL facts</a:t>
            </a:r>
            <a:endParaRPr lang="en-US" sz="1100" dirty="0"/>
          </a:p>
        </p:txBody>
      </p:sp>
      <p:sp>
        <p:nvSpPr>
          <p:cNvPr id="14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6280" y="1865376"/>
            <a:ext cx="50292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279392" y="1207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唯讀查詢</a:t>
            </a:r>
            <a:endParaRPr lang="en-US" sz="750" dirty="0"/>
          </a:p>
        </p:txBody>
      </p:sp>
      <p:sp>
        <p:nvSpPr>
          <p:cNvPr id="16" name="node frame get_financial_metri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1463040"/>
            <a:ext cx="1737360" cy="804672"/>
          </a:xfrm>
          <a:prstGeom prst="rect">
            <a:avLst/>
          </a:prstGeom>
          <a:solidFill>
            <a:srgbClr val="FDF9F0"/>
          </a:solidFill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5029200" y="1463040"/>
            <a:ext cx="173736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7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get_financial_metric</a:t>
            </a:r>
            <a:endParaRPr lang="en-US" sz="1050" dirty="0"/>
          </a:p>
        </p:txBody>
      </p:sp>
      <p:sp>
        <p:nvSpPr>
          <p:cNvPr id="18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12280" y="1865376"/>
            <a:ext cx="41148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node frame 答案 + 引用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69480" y="1463040"/>
            <a:ext cx="1417320" cy="804672"/>
          </a:xfrm>
          <a:prstGeom prst="rect">
            <a:avLst/>
          </a:prstGeom>
          <a:solidFill>
            <a:srgbClr val="EAE0CA"/>
          </a:solidFill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7269480" y="1463040"/>
            <a:ext cx="141732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 + 引用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MSFT 營收趨勢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3774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回傳欄位（缺一不可）</a:t>
            </a:r>
            <a:endParaRPr lang="en-US" sz="1200" dirty="0"/>
          </a:p>
        </p:txBody>
      </p:sp>
      <p:sp>
        <p:nvSpPr>
          <p:cNvPr id="22" name="field chi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651760"/>
            <a:ext cx="1938528" cy="329184"/>
          </a:xfrm>
          <a:prstGeom prst="rect">
            <a:avLst/>
          </a:prstGeom>
          <a:solidFill>
            <a:srgbClr val="FDF9F0"/>
          </a:solidFill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57200" y="265176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7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</a:t>
            </a:r>
            <a:endParaRPr lang="en-US" sz="1050" dirty="0"/>
          </a:p>
        </p:txBody>
      </p:sp>
      <p:sp>
        <p:nvSpPr>
          <p:cNvPr id="24" name="field chi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2032" y="2651760"/>
            <a:ext cx="1938528" cy="329184"/>
          </a:xfrm>
          <a:prstGeom prst="rect">
            <a:avLst/>
          </a:prstGeom>
          <a:solidFill>
            <a:srgbClr val="FDF9F0"/>
          </a:solidFill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2542032" y="265176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7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taxonomy</a:t>
            </a:r>
            <a:endParaRPr lang="en-US" sz="1050" dirty="0"/>
          </a:p>
        </p:txBody>
      </p:sp>
      <p:sp>
        <p:nvSpPr>
          <p:cNvPr id="26" name="field chi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26864" y="2651760"/>
            <a:ext cx="1938528" cy="329184"/>
          </a:xfrm>
          <a:prstGeom prst="rect">
            <a:avLst/>
          </a:prstGeom>
          <a:solidFill>
            <a:srgbClr val="FDF9F0"/>
          </a:solidFill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4626864" y="265176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7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endParaRPr lang="en-US" sz="1050" dirty="0"/>
          </a:p>
        </p:txBody>
      </p:sp>
      <p:sp>
        <p:nvSpPr>
          <p:cNvPr id="28" name="field chi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11696" y="2651760"/>
            <a:ext cx="1938528" cy="329184"/>
          </a:xfrm>
          <a:prstGeom prst="rect">
            <a:avLst/>
          </a:prstGeom>
          <a:solidFill>
            <a:srgbClr val="FDF9F0"/>
          </a:solidFill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6711696" y="265176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7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</a:t>
            </a:r>
            <a:endParaRPr lang="en-US" sz="1050" dirty="0"/>
          </a:p>
        </p:txBody>
      </p:sp>
      <p:sp>
        <p:nvSpPr>
          <p:cNvPr id="30" name="field chi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063240"/>
            <a:ext cx="1938528" cy="329184"/>
          </a:xfrm>
          <a:prstGeom prst="rect">
            <a:avLst/>
          </a:prstGeom>
          <a:solidFill>
            <a:srgbClr val="FDF9F0"/>
          </a:solidFill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457200" y="306324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財務期間</a:t>
            </a:r>
            <a:endParaRPr lang="en-US" sz="1050" dirty="0"/>
          </a:p>
        </p:txBody>
      </p:sp>
      <p:sp>
        <p:nvSpPr>
          <p:cNvPr id="32" name="field chi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2032" y="3063240"/>
            <a:ext cx="1938528" cy="329184"/>
          </a:xfrm>
          <a:prstGeom prst="rect">
            <a:avLst/>
          </a:prstGeom>
          <a:solidFill>
            <a:srgbClr val="FDF9F0"/>
          </a:solidFill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2542032" y="306324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7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endParaRPr lang="en-US" sz="1050" dirty="0"/>
          </a:p>
        </p:txBody>
      </p:sp>
      <p:sp>
        <p:nvSpPr>
          <p:cNvPr id="34" name="field chi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26864" y="3063240"/>
            <a:ext cx="1938528" cy="329184"/>
          </a:xfrm>
          <a:prstGeom prst="rect">
            <a:avLst/>
          </a:prstGeom>
          <a:solidFill>
            <a:srgbClr val="FDF9F0"/>
          </a:solidFill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4626864" y="306324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7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filed date</a:t>
            </a:r>
            <a:endParaRPr lang="en-US" sz="1050" dirty="0"/>
          </a:p>
        </p:txBody>
      </p:sp>
      <p:sp>
        <p:nvSpPr>
          <p:cNvPr id="36" name="field chi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11696" y="3063240"/>
            <a:ext cx="1938528" cy="329184"/>
          </a:xfrm>
          <a:prstGeom prst="rect">
            <a:avLst/>
          </a:prstGeom>
          <a:solidFill>
            <a:srgbClr val="FDF9F0"/>
          </a:solidFill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6711696" y="306324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7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358444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為何保留 unit／期間／accession：同一 concept 在不同期間與單位下不可互相比較，也需能回查原始 filing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單位或期間含糊時：發出 warning 或回傳部分結果，不靜默混合不同定義的數值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C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700016"/>
            <a:ext cx="8229600" cy="0"/>
          </a:xfrm>
          <a:prstGeom prst="line">
            <a:avLst/>
          </a:prstGeom>
          <a:noFill/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依據文件：specs/sec-filing-research-agent/design.md、src/sec_research/mcp_server.py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MCP 介面：六個唯讀工具與三種 resources</a:t>
            </a:r>
            <a:endParaRPr lang="en-US" sz="2500" dirty="0"/>
          </a:p>
        </p:txBody>
      </p:sp>
      <p:sp>
        <p:nvSpPr>
          <p:cNvPr id="6" name="lea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786384"/>
            <a:ext cx="54864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Streamable HTTP /mcp；ingestion 與索引重建不經 MCP 公開。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198424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MCP tool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職責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資料來源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71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list_filings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列出本機已入庫的 filing 清單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PostgreSQL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71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get_corpus_status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回報語料與索引狀態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PostgreSQL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71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get_latest_filings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SEC 最新 10-K／10-Q／8-K metadata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SEC submissions API（即時）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71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search_filing_sections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混合檢索（FTS + pgvector + RRF）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PostgreSQL + pgvector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71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read_filing_section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讀取指定章節原文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PostgreSQL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71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get_financial_metric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XBRL 數值與其期間、單位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PostgreSQL（XBRL facts）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457200" y="3310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唯讀 sec:// resources：filing、section、corpus status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58444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結構化回應欄位：status、request_id、data、citations、warnings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唯讀邊界：ingestion、migration、索引重建都不在 MCP 公開面上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C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700016"/>
            <a:ext cx="8229600" cy="0"/>
          </a:xfrm>
          <a:prstGeom prst="line">
            <a:avLst/>
          </a:prstGeom>
          <a:noFill/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依據文件：specs/sec-filing-research-agent/design.md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Research Agent 工作迴圈</a:t>
            </a:r>
            <a:endParaRPr lang="en-US" sz="2500" dirty="0"/>
          </a:p>
        </p:txBody>
      </p:sp>
      <p:sp>
        <p:nvSpPr>
          <p:cNvPr id="6" name="lea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786384"/>
            <a:ext cx="54864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循序呼叫、每題上限 6 次工具；引用驗證不過即降級。</a:t>
            </a:r>
            <a:endParaRPr lang="en-US" sz="1300" dirty="0"/>
          </a:p>
        </p:txBody>
      </p:sp>
      <p:sp>
        <p:nvSpPr>
          <p:cNvPr id="8" name="node frame MCP discover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234440"/>
            <a:ext cx="1115568" cy="566928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274320" y="1234440"/>
            <a:ext cx="111556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MCP discovery</a:t>
            </a:r>
            <a:endParaRPr lang="en-US" sz="950" dirty="0"/>
          </a:p>
        </p:txBody>
      </p:sp>
      <p:sp>
        <p:nvSpPr>
          <p:cNvPr id="10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08176" y="1517904"/>
            <a:ext cx="9144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node frame strict function tool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36192" y="1234440"/>
            <a:ext cx="1115568" cy="566928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1536192" y="1234440"/>
            <a:ext cx="111556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strict function tools</a:t>
            </a:r>
            <a:endParaRPr lang="en-US" sz="950" dirty="0"/>
          </a:p>
        </p:txBody>
      </p:sp>
      <p:sp>
        <p:nvSpPr>
          <p:cNvPr id="13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70048" y="1517904"/>
            <a:ext cx="9144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node frame Responses 模型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98064" y="1234440"/>
            <a:ext cx="1115568" cy="566928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2798064" y="1234440"/>
            <a:ext cx="111556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Responses 模型</a:t>
            </a:r>
            <a:endParaRPr lang="en-US" sz="950" dirty="0"/>
          </a:p>
        </p:txBody>
      </p:sp>
      <p:sp>
        <p:nvSpPr>
          <p:cNvPr id="16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31920" y="1517904"/>
            <a:ext cx="9144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node frame MCP tool ca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59936" y="1234440"/>
            <a:ext cx="1115568" cy="566928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059936" y="1234440"/>
            <a:ext cx="111556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MCP tool call</a:t>
            </a:r>
            <a:endParaRPr lang="en-US" sz="950" dirty="0"/>
          </a:p>
        </p:txBody>
      </p:sp>
      <p:sp>
        <p:nvSpPr>
          <p:cNvPr id="19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93792" y="1517904"/>
            <a:ext cx="9144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node frame 證據彙整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21808" y="1234440"/>
            <a:ext cx="1115568" cy="566928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5321808" y="1234440"/>
            <a:ext cx="111556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證據彙整</a:t>
            </a:r>
            <a:endParaRPr lang="en-US" sz="950" dirty="0"/>
          </a:p>
        </p:txBody>
      </p:sp>
      <p:sp>
        <p:nvSpPr>
          <p:cNvPr id="22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55664" y="1517904"/>
            <a:ext cx="9144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node frame 引用驗證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0" y="1234440"/>
            <a:ext cx="1115568" cy="566928"/>
          </a:xfrm>
          <a:prstGeom prst="rect">
            <a:avLst/>
          </a:prstGeom>
          <a:solidFill>
            <a:srgbClr val="EAE0CA"/>
          </a:solidFill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583680" y="1234440"/>
            <a:ext cx="111556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引用驗證</a:t>
            </a:r>
            <a:endParaRPr lang="en-US" sz="950" dirty="0"/>
          </a:p>
        </p:txBody>
      </p:sp>
      <p:sp>
        <p:nvSpPr>
          <p:cNvPr id="25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17536" y="1517904"/>
            <a:ext cx="9144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node frame UI 呈現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45552" y="1234440"/>
            <a:ext cx="1115568" cy="566928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7845552" y="1234440"/>
            <a:ext cx="111556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 呈現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186537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parallel_tool_calls=false，每輪循序呼叫，每題最多 6 次工具呼叫</a:t>
            </a:r>
            <a:endParaRPr lang="en-US" sz="1000" dirty="0"/>
          </a:p>
        </p:txBody>
      </p:sp>
      <p:sp>
        <p:nvSpPr>
          <p:cNvPr id="29" name="path row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solidFill>
            <a:srgbClr val="FDF9F0"/>
          </a:solidFill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240280"/>
            <a:ext cx="64008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658368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敘事題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91640" y="2240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7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search_filing_sections → read_filing_section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只走 RAG</a:t>
            </a:r>
            <a:endParaRPr lang="en-US" sz="1000" dirty="0"/>
          </a:p>
        </p:txBody>
      </p:sp>
      <p:sp>
        <p:nvSpPr>
          <p:cNvPr id="34" name="path row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solidFill>
            <a:srgbClr val="FDF9F0"/>
          </a:solidFill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788920"/>
            <a:ext cx="64008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658368" y="2788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數值題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691640" y="2788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7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get_financial_metric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只走 XBRL</a:t>
            </a:r>
            <a:endParaRPr lang="en-US" sz="1000" dirty="0"/>
          </a:p>
        </p:txBody>
      </p:sp>
      <p:sp>
        <p:nvSpPr>
          <p:cNvPr id="39" name="path row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solidFill>
            <a:srgbClr val="FDF9F0"/>
          </a:solidFill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337560"/>
            <a:ext cx="64008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658368" y="3337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複合題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691640" y="3337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 RAG 取章節證據 → 再 XBRL 取數值 → 綜合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6364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兩類證據都齊才作答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跨期題先核對 filing 是否齊全；模型輸出含 answer_markdown、citation_ids、warnings、is_complete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程式驗證：引用 ID 屬於本次請求、URL 為允許的 SEC HTTPS 來源、檢查行內引用；不合規即降級為未完成答案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C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700016"/>
            <a:ext cx="8229600" cy="0"/>
          </a:xfrm>
          <a:prstGeom prst="line">
            <a:avLst/>
          </a:prstGeom>
          <a:noFill/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依據文件：README.md、src/sec_research/app.py、verification.md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 Demo 腳本</a:t>
            </a:r>
            <a:endParaRPr lang="en-US" sz="2500" dirty="0"/>
          </a:p>
        </p:txBody>
      </p:sp>
      <p:sp>
        <p:nvSpPr>
          <p:cNvPr id="6" name="lea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786384"/>
            <a:ext cx="54864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先確認 ready，再依序點三個內建問題並檢視證據區。</a:t>
            </a:r>
            <a:endParaRPr lang="en-US" sz="1300" dirty="0"/>
          </a:p>
        </p:txBody>
      </p:sp>
      <p:sp>
        <p:nvSpPr>
          <p:cNvPr id="8" name="precondition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88720"/>
            <a:ext cx="8229600" cy="384048"/>
          </a:xfrm>
          <a:prstGeom prst="rect">
            <a:avLst/>
          </a:prstGeom>
          <a:solidFill>
            <a:srgbClr val="EAE0CA"/>
          </a:solidFill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03504" y="11887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前置狀態：/health/ready 為 ready、get_corpus_status 顯示 active index 可用 → 開啟 http://127.0.0.1:8501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19072"/>
          <a:ext cx="8229600" cy="15971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點擊順序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預期工具路徑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應展示的證據區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① AAPL Risk Factors 變化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171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search_filing_sections → read_filing_section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章節引用、SEC 連結、工具軌跡、耗時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② MSFT 營收趨勢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171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get_financial_metric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concept／unit／期間／accession 與多筆 SEC 連結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③ NVDA 資料中心營收 × Risk Factors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171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search_filing_sections → get_financial_metric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兩類證據並陳、warnings 與 is_complete 狀態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cavea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520440"/>
            <a:ext cx="8229600" cy="960120"/>
          </a:xfrm>
          <a:prstGeom prst="rect">
            <a:avLst/>
          </a:prstGeom>
          <a:solidFill>
            <a:srgbClr val="FDF9F0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621792" y="3584448"/>
            <a:ext cx="7900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現場說明（誠實前提）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若無現場服務，本段以 smoke 紀錄示範，不播放偽造畫面。模型輸出有變異：敘事與複合題可能因引用規則安全降級，只列出已取得的 SEC 證據，這是預期行為，不等於失敗。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C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700016"/>
            <a:ext cx="8229600" cy="0"/>
          </a:xfrm>
          <a:prstGeom prst="line">
            <a:avLst/>
          </a:prstGeom>
          <a:noFill/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依據文件：README.md、compose.yaml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部署與操作流程</a:t>
            </a:r>
            <a:endParaRPr lang="en-US" sz="2500" dirty="0"/>
          </a:p>
        </p:txBody>
      </p:sp>
      <p:sp>
        <p:nvSpPr>
          <p:cNvPr id="6" name="lea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786384"/>
            <a:ext cx="54864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Compose 三個服務；只有 Demo 對 loopback 開放。</a:t>
            </a:r>
            <a:endParaRPr lang="en-US" sz="1300" dirty="0"/>
          </a:p>
        </p:txBody>
      </p:sp>
      <p:sp>
        <p:nvSpPr>
          <p:cNvPr id="8" name="node frame postgr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234440"/>
            <a:ext cx="2651760" cy="77724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26517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7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PostgreSQL 18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pgvector</a:t>
            </a:r>
            <a:endParaRPr lang="en-US" sz="1100" dirty="0"/>
          </a:p>
        </p:txBody>
      </p:sp>
      <p:sp>
        <p:nvSpPr>
          <p:cNvPr id="10" name="node frame mc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1234440"/>
            <a:ext cx="2651760" cy="77724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273552" y="1234440"/>
            <a:ext cx="26517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7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MCP Server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/mcp（不公開主機埠）</a:t>
            </a:r>
            <a:endParaRPr lang="en-US" sz="1100" dirty="0"/>
          </a:p>
        </p:txBody>
      </p:sp>
      <p:sp>
        <p:nvSpPr>
          <p:cNvPr id="12" name="node frame dem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9904" y="1234440"/>
            <a:ext cx="2651760" cy="777240"/>
          </a:xfrm>
          <a:prstGeom prst="rect">
            <a:avLst/>
          </a:prstGeom>
          <a:solidFill>
            <a:srgbClr val="EAE0CA"/>
          </a:solidFill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089904" y="1234440"/>
            <a:ext cx="26517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7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Streamlit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127.0.0.1:8501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Volumes：raw-data（原始文件）、db data（PostgreSQL）</a:t>
            </a:r>
            <a:endParaRPr lang="en-US" sz="1000" dirty="0"/>
          </a:p>
        </p:txBody>
      </p:sp>
      <p:sp>
        <p:nvSpPr>
          <p:cNvPr id="15" name="node frame 設定環境變數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2450592"/>
            <a:ext cx="1316736" cy="91440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274320" y="2450592"/>
            <a:ext cx="1316736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設定環境變數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SEC_USER_AGENT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OPENROUTER_API_KEY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POSTGRES_PASSWORD</a:t>
            </a:r>
            <a:endParaRPr lang="en-US" sz="1000" dirty="0"/>
          </a:p>
        </p:txBody>
      </p:sp>
      <p:sp>
        <p:nvSpPr>
          <p:cNvPr id="17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09344" y="2907792"/>
            <a:ext cx="109728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node frame 起 postgr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37360" y="2450592"/>
            <a:ext cx="1316736" cy="91440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1737360" y="2450592"/>
            <a:ext cx="1316736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 postgres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compose up -d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--build postgres</a:t>
            </a:r>
            <a:endParaRPr lang="en-US" sz="1000" dirty="0"/>
          </a:p>
        </p:txBody>
      </p:sp>
      <p:sp>
        <p:nvSpPr>
          <p:cNvPr id="20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72384" y="2907792"/>
            <a:ext cx="109728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node frame migra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2450592"/>
            <a:ext cx="1316736" cy="91440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200400" y="2450592"/>
            <a:ext cx="1316736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migrate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compose run --rm mcp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… cli migrate</a:t>
            </a:r>
            <a:endParaRPr lang="en-US" sz="1000" dirty="0"/>
          </a:p>
        </p:txBody>
      </p:sp>
      <p:sp>
        <p:nvSpPr>
          <p:cNvPr id="23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35424" y="2907792"/>
            <a:ext cx="109728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node frame 起 mcp / dem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450592"/>
            <a:ext cx="1316736" cy="91440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663440" y="2450592"/>
            <a:ext cx="1316736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 mcp / demo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compose up -d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mcp demo</a:t>
            </a:r>
            <a:endParaRPr lang="en-US" sz="1000" dirty="0"/>
          </a:p>
        </p:txBody>
      </p:sp>
      <p:sp>
        <p:nvSpPr>
          <p:cNvPr id="26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8464" y="2907792"/>
            <a:ext cx="109728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node frame back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450592"/>
            <a:ext cx="1316736" cy="91440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6126480" y="2450592"/>
            <a:ext cx="1316736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backfill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明確執行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（sync 為增量）</a:t>
            </a:r>
            <a:endParaRPr lang="en-US" sz="1000" dirty="0"/>
          </a:p>
        </p:txBody>
      </p:sp>
      <p:sp>
        <p:nvSpPr>
          <p:cNvPr id="29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61504" y="2907792"/>
            <a:ext cx="109728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node frame rebuild-inde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2450592"/>
            <a:ext cx="1316736" cy="91440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7589520" y="2450592"/>
            <a:ext cx="1316736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rebuild-index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完成後等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/health/ready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ready gate：待 /health/ready 為 ready 後再開 http://127.0.0.1:8501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金鑰值只放環境變數，不出現在投影片、日誌或 repo 中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C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700016"/>
            <a:ext cx="8229600" cy="0"/>
          </a:xfrm>
          <a:prstGeom prst="line">
            <a:avLst/>
          </a:prstGeom>
          <a:noFill/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依據文件：specs/sec-filing-research-agent/design.md、README.md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安全與資料傳送邊界</a:t>
            </a:r>
            <a:endParaRPr lang="en-US" sz="2500" dirty="0"/>
          </a:p>
        </p:txBody>
      </p:sp>
      <p:sp>
        <p:nvSpPr>
          <p:cNvPr id="6" name="lea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786384"/>
            <a:ext cx="54864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所有外來文字都是資料，不是指令。</a:t>
            </a:r>
            <a:endParaRPr lang="en-US" sz="1300" dirty="0"/>
          </a:p>
        </p:txBody>
      </p:sp>
      <p:sp>
        <p:nvSpPr>
          <p:cNvPr id="8" name="security card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207008"/>
            <a:ext cx="2651760" cy="219456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card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207008"/>
            <a:ext cx="2651760" cy="310896"/>
          </a:xfrm>
          <a:prstGeom prst="rect">
            <a:avLst/>
          </a:prstGeom>
          <a:solidFill>
            <a:srgbClr val="8A5A12"/>
          </a:solidFill>
          <a:ln w="12700">
            <a:solidFill>
              <a:srgbClr val="8A5A1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6692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取得端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5216" y="1609344"/>
            <a:ext cx="2395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 官方 HTTPS host allowlist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含聯絡 email 的 User-Agent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每秒 5 次、硬限制 &lt; 每秒 10 次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內容類型／大小／hash 驗證</a:t>
            </a:r>
            <a:endParaRPr lang="en-US" sz="1000" dirty="0"/>
          </a:p>
        </p:txBody>
      </p:sp>
      <p:sp>
        <p:nvSpPr>
          <p:cNvPr id="12" name="security card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1207008"/>
            <a:ext cx="2651760" cy="219456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card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1207008"/>
            <a:ext cx="2651760" cy="310896"/>
          </a:xfrm>
          <a:prstGeom prst="rect">
            <a:avLst/>
          </a:prstGeom>
          <a:solidFill>
            <a:srgbClr val="8A5A12"/>
          </a:solidFill>
          <a:ln w="12700">
            <a:solidFill>
              <a:srgbClr val="8A5A1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3383280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存取端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01568" y="1609344"/>
            <a:ext cx="2395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六個唯讀 MCP tools，無寫入面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參數化 SQL、唯讀資料庫角色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查詢與上下文長度上限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僅 127.0.0.1:8501 對外</a:t>
            </a:r>
            <a:endParaRPr lang="en-US" sz="1000" dirty="0"/>
          </a:p>
        </p:txBody>
      </p:sp>
      <p:sp>
        <p:nvSpPr>
          <p:cNvPr id="16" name="security card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9904" y="1207008"/>
            <a:ext cx="2651760" cy="2194560"/>
          </a:xfrm>
          <a:prstGeom prst="rect">
            <a:avLst/>
          </a:prstGeom>
          <a:solidFill>
            <a:srgbClr val="FDF9F0"/>
          </a:solidFill>
          <a:ln w="15875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card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9904" y="1207008"/>
            <a:ext cx="2651760" cy="310896"/>
          </a:xfrm>
          <a:prstGeom prst="rect">
            <a:avLst/>
          </a:prstGeom>
          <a:solidFill>
            <a:srgbClr val="8A5A12"/>
          </a:solidFill>
          <a:ln w="12700">
            <a:solidFill>
              <a:srgbClr val="8A5A1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199632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輸出端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17920" y="1609344"/>
            <a:ext cx="2395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引用 ID 須屬於本次請求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URL 須為允許的 SEC HTTPS 來源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 escape 防注入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不合規即降級為未完成答案</a:t>
            </a:r>
            <a:endParaRPr lang="en-US" sz="1000" dirty="0"/>
          </a:p>
        </p:txBody>
      </p:sp>
      <p:sp>
        <p:nvSpPr>
          <p:cNvPr id="20" name="data transfer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547872"/>
            <a:ext cx="8229600" cy="914400"/>
          </a:xfrm>
          <a:prstGeom prst="rect">
            <a:avLst/>
          </a:prstGeom>
          <a:solidFill>
            <a:srgbClr val="EAE0CA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21792" y="3602736"/>
            <a:ext cx="79004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對外資料傳送（需明確告知）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 SEC 片段、嵌入輸入、查詢文字與研究問題會送至 OpenRouter，並可能再轉送至模型供應端。prompt injection 防護：使用者問題、SEC 文件內容、工具輸出與模型輸出一律視為不可信資料，以 schema、工具 allowlist 與來源 allowlist 限制影響範圍。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C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700016"/>
            <a:ext cx="8229600" cy="0"/>
          </a:xfrm>
          <a:prstGeom prst="line">
            <a:avLst/>
          </a:prstGeom>
          <a:noFill/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依據文件：specs/sec-filing-research-agent/verification.md（2026-09-23，隔離重建環境）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正式語料與端到端實測結果</a:t>
            </a:r>
            <a:endParaRPr lang="en-US" sz="2500" dirty="0"/>
          </a:p>
        </p:txBody>
      </p:sp>
      <p:sp>
        <p:nvSpPr>
          <p:cNvPr id="6" name="lea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786384"/>
            <a:ext cx="54864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語料完整、六工具皆可呼叫；耗時為抽樣紀錄，非 SLA。</a:t>
            </a:r>
            <a:endParaRPr lang="en-US" sz="1300" dirty="0"/>
          </a:p>
        </p:txBody>
      </p:sp>
      <p:sp>
        <p:nvSpPr>
          <p:cNvPr id="8" name="sta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207008"/>
            <a:ext cx="1554480" cy="841248"/>
          </a:xfrm>
          <a:prstGeom prst="rect">
            <a:avLst/>
          </a:prstGeom>
          <a:solidFill>
            <a:srgbClr val="FDF9F0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57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17007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份 filing</a:t>
            </a:r>
            <a:endParaRPr lang="en-US" sz="1000" dirty="0"/>
          </a:p>
        </p:txBody>
      </p:sp>
      <p:sp>
        <p:nvSpPr>
          <p:cNvPr id="11" name="sta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39696" y="1207008"/>
            <a:ext cx="1554480" cy="841248"/>
          </a:xfrm>
          <a:prstGeom prst="rect">
            <a:avLst/>
          </a:prstGeom>
          <a:solidFill>
            <a:srgbClr val="FDF9F0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2139696" y="126187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39696" y="17007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個成功章節</a:t>
            </a:r>
            <a:endParaRPr lang="en-US" sz="1000" dirty="0"/>
          </a:p>
        </p:txBody>
      </p:sp>
      <p:sp>
        <p:nvSpPr>
          <p:cNvPr id="14" name="sta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2192" y="1207008"/>
            <a:ext cx="1554480" cy="841248"/>
          </a:xfrm>
          <a:prstGeom prst="rect">
            <a:avLst/>
          </a:prstGeom>
          <a:solidFill>
            <a:srgbClr val="FDF9F0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822192" y="126187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1,703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822192" y="17007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 chunk</a:t>
            </a:r>
            <a:endParaRPr lang="en-US" sz="1000" dirty="0"/>
          </a:p>
        </p:txBody>
      </p:sp>
      <p:sp>
        <p:nvSpPr>
          <p:cNvPr id="17" name="sta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04688" y="1207008"/>
            <a:ext cx="1554480" cy="841248"/>
          </a:xfrm>
          <a:prstGeom prst="rect">
            <a:avLst/>
          </a:prstGeom>
          <a:solidFill>
            <a:srgbClr val="FDF9F0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504688" y="126187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1,703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504688" y="17007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 active embedding</a:t>
            </a:r>
            <a:endParaRPr lang="en-US" sz="1000" dirty="0"/>
          </a:p>
        </p:txBody>
      </p:sp>
      <p:sp>
        <p:nvSpPr>
          <p:cNvPr id="20" name="sta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87184" y="1207008"/>
            <a:ext cx="1554480" cy="841248"/>
          </a:xfrm>
          <a:prstGeom prst="rect">
            <a:avLst/>
          </a:prstGeom>
          <a:solidFill>
            <a:srgbClr val="FDF9F0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7187184" y="126187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672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187184" y="17007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 XBRL facts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1396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parser／chunker 版本 v1；embedding 1,536 維。相同範圍 backfill 重跑：新增 0、更新 0、略過 57；filing／section／chunk 重複鍵各 0（冪等）。</a:t>
            </a:r>
            <a:endParaRPr lang="en-US" sz="10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87168"/>
          <a:ext cx="8229600" cy="131673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正式模型 UI smoke（最新一輪抽樣）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端到端耗時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SEC 引用連結數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本輪結果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敘事題（RAG）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44,520 ms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因引用規則安全降級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數值題（XBRL）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11,895 ms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複合題（RAG→XBRL）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51,942 ms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因引用規則安全降級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 MCP 工具均實際呼叫成功、三種 resources 可讀、MCP live／ready 正常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上述為單次抽樣紀錄，不是 SLA 或成功率；模型輸出有變異，不能宣稱每次都產生完整分析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測試方式為 Streamlit 測試執行器加正式 OpenRouter 模型，並非人工瀏覽器視覺驗證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C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700016"/>
            <a:ext cx="8229600" cy="0"/>
          </a:xfrm>
          <a:prstGeom prst="line">
            <a:avLst/>
          </a:prstGeom>
          <a:noFill/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依據文件：specs/sec-filing-research-agent/verification.md（2026-09-23）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離線測試與品質指標</a:t>
            </a:r>
            <a:endParaRPr lang="en-US" sz="2500" dirty="0"/>
          </a:p>
        </p:txBody>
      </p:sp>
      <p:sp>
        <p:nvSpPr>
          <p:cNvPr id="6" name="lea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786384"/>
            <a:ext cx="54864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看指標前先看它是用哪種資料與哪種模型迴圈跑出來的。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19456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結果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資料來源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模型迴圈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固定離線評估 18 題（敘事 6／XBRL 4／複合 4／邊界 2／安全 2）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已執行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fixture + 正式 SEC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deterministic fake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敘事 metadata 正確率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100%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正式 SEC 資料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deterministic fake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敘事 Recall@8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≥ 85%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正式 SEC 資料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deterministic fake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引用 URL 格式與 accession 解析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100%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正式 SEC 資料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deterministic fake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XBRL fixture 的 concept／value／unit／period／accession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4/4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fixture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deterministic fake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組人工標定合成答案：主張支持率／涵蓋率／引用正確率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100%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人工標定合成答案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非正式模型分數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uv run pytest -q（隔離測試資料庫）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172 通過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隔離測試環境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7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caveat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822192"/>
            <a:ext cx="8229600" cy="749808"/>
          </a:xfrm>
          <a:prstGeom prst="rect">
            <a:avLst/>
          </a:prstGeom>
          <a:solidFill>
            <a:srgbClr val="EAE0CA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621792" y="3877056"/>
            <a:ext cx="7900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正確讀法：</a:t>
            </a:r>
            <a:r>
              <a:rPr lang="en-US" sz="105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題是固定離線評估集且模型迴圈使用 deterministic fake，不等於「正式模型 18 題全部答對」；4 組 100% 是人工標定合成答案的檢核，不等於「AI 答案正確率 100%」。另：compileall、uv pip check 與 Compose config 檢查均成功。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C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700016"/>
            <a:ext cx="8229600" cy="0"/>
          </a:xfrm>
          <a:prstGeom prst="line">
            <a:avLst/>
          </a:prstGeom>
          <a:noFill/>
          <a:ln w="12700">
            <a:solidFill>
              <a:srgbClr val="D9CB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依據文件：specs/sec-filing-research-agent/verification.md、design.md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已知限制與結論</a:t>
            </a:r>
            <a:endParaRPr lang="en-US" sz="2500" dirty="0"/>
          </a:p>
        </p:txBody>
      </p:sp>
      <p:sp>
        <p:nvSpPr>
          <p:cNvPr id="6" name="lead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786384"/>
            <a:ext cx="54864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邊界說清楚，這套系統的引用才有價值。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尚未驗證／已知限制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正式模型答案可能安全降級為未完成，不保證每次產出完整分析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未做人工瀏覽器視覺檢查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未逐一對每個引用連結做遠端 HTTP 200 驗證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引用「可解析」＝ SEC HTTPS allowlist、accession 與 metadata 檢查，非逐條語意驗證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8-K 僅即時查 metadata，未建立全文 RAG 索引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後續可補強方向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0" y="1481328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以正式模型執行 18 題逐題評估，取得真實答題指標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加入引用連結的遠端可達性抽查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擴充公司與年度範圍，觀察章節解析失敗率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17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評估是否納入 8-K 全文索引</a:t>
            </a:r>
            <a:endParaRPr lang="en-US" sz="1100" dirty="0"/>
          </a:p>
        </p:txBody>
      </p:sp>
      <p:sp>
        <p:nvSpPr>
          <p:cNvPr id="12" name="conclusion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794760"/>
            <a:ext cx="8229600" cy="749808"/>
          </a:xfrm>
          <a:prstGeom prst="rect">
            <a:avLst/>
          </a:prstGeom>
          <a:solidFill>
            <a:srgbClr val="FDF9F0"/>
          </a:solidFill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A5A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官方資料 → 分流檢索 → MCP 工具 → 有引用的研究答案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2108</Words>
  <Application>Microsoft Macintosh PowerPoint</Application>
  <PresentationFormat>如螢幕大小 (16:9)</PresentationFormat>
  <Paragraphs>388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Microsoft JhengHei</vt:lpstr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健瑋 邱</dc:creator>
  <cp:lastModifiedBy>健瑋 邱</cp:lastModifiedBy>
  <cp:revision>1</cp:revision>
  <dcterms:created xsi:type="dcterms:W3CDTF">2026-09-23T13:48:25Z</dcterms:created>
  <dcterms:modified xsi:type="dcterms:W3CDTF">2026-09-24T05:03:31Z</dcterms:modified>
</cp:coreProperties>
</file>